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2" r:id="rId5"/>
    <p:sldId id="263" r:id="rId6"/>
    <p:sldId id="264" r:id="rId7"/>
    <p:sldId id="265" r:id="rId8"/>
    <p:sldId id="266" r:id="rId9"/>
    <p:sldId id="267" r:id="rId10"/>
    <p:sldId id="279" r:id="rId11"/>
    <p:sldId id="258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0" r:id="rId23"/>
    <p:sldId id="261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05" autoAdjust="0"/>
    <p:restoredTop sz="94660"/>
  </p:normalViewPr>
  <p:slideViewPr>
    <p:cSldViewPr snapToGrid="0">
      <p:cViewPr>
        <p:scale>
          <a:sx n="67" d="100"/>
          <a:sy n="67" d="100"/>
        </p:scale>
        <p:origin x="7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3FB5-6732-4525-82D8-D6FC69586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0BBB3-CD0D-4BBA-B4C9-EBC091393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5FAB2-7D5D-4E2D-9C14-32E9B1E1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BF6A7-B62E-4C65-8766-0086F971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4565-3931-415D-8C2F-02B7A092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99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A28E-668A-4B43-849F-5CC18978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808D4-1B05-417A-A1A9-CF1AD2572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217A9-69C0-41A6-9BA6-475CDC73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B973F-10EB-454C-9F80-40E1D559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A4B5A-4AB1-44CE-A565-C9669962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60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5BA0-ED43-4549-B7A8-C992E4CE4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EEE2B-1493-4FFE-B0E8-55D805822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FE695-5B78-4456-ACB6-043CA5BF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B05E3-103F-443A-85FD-E4A0B5F0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540AD-09C0-4228-ADB3-2884D7D3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8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5EB61-600E-4989-B259-AF7796BA6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6C531-D9E1-43E7-8A5B-E22A7D35F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8E0E8-278A-4A88-BD6A-0BD7455A8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D3A95-DA6D-4564-A8AE-91D9647D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6C2FD-377F-4533-966A-3C9F0EB2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406F1-0E90-4911-BBA4-BFCF46C7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59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52697-BE7F-476C-9608-C9D37FDE8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2F2AA-A3FA-4F63-9797-AC39C97DA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DFAF1-5CD4-484C-8047-4ABFAF5EE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424FA-9B8E-4766-A3C8-C91B99CE6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E2364A-24FD-4357-B24D-41FD9990E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C0D079-B64D-42CC-BD2A-F6C17FF96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E07D7-759F-466A-A155-9769069E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3935C-5547-486D-8DD4-4C28A3638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4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63A34-1461-438B-A620-E8BB3887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4EAF86-7EAE-484C-8E29-7DD4065A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EABB9-64ED-4F67-8D33-DB76C1691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A4055-1962-4D8D-B9C6-D46E572F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3AB32-59A0-450E-AB10-703CF162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61D501-4E0B-4E2A-A224-F7A62FA2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5E264-1466-4219-BBB5-37556BB2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4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CFB87-02EC-4275-9AF4-24578F27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C3EAD-F1F1-4343-BC51-AE849926F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01066-BB43-409C-8FFA-391884A5C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3D406-4217-4578-9A0B-FDB34964D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B93C4-2BB9-4157-B7B9-65F90BF8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62CD7-22F9-4343-9F0E-BCFB3FC7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75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E054-D34B-47BE-86C3-EFFEE023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29E7DA-100D-440C-B7C9-A9AE45157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E4006-3CBF-4519-8758-56E01B3F1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1C676-C23F-4BAA-BB33-D3E2AD3BF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2CC6-650C-4377-8308-F9532193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DB27D-F8BE-49C5-9D5B-FEEA08684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2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E150-B8AA-413D-9414-064F1F0F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D4F76-34C0-4289-8CFB-94C38E738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FA915-68FA-4408-A88E-6660AA6BE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A5E2B-A57F-4DB0-99AD-C27F9099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DF612-B22D-4F92-8066-50DC1690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F7151-ED39-4BF9-BF66-A594B7646E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184B8-770E-48EA-9D5E-D1CA55AC4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AF188-13CF-40D8-B3F9-7B6E0AE97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982F8-FB7D-409D-967C-A3277D96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FB884-A604-4DF3-87F0-5F0225F12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4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20F8D-1B72-46D1-A251-A52527A9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41F56-4FA3-4861-8702-5EF04E25F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32F77-9BFD-4E13-B8EB-05CEAC185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E385D-06CF-4A2F-8319-D40F5F89E1A1}" type="datetimeFigureOut">
              <a:rPr lang="en-US" smtClean="0"/>
              <a:t>7/6/2021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891D2-560A-438D-A7FF-C006616603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F71B-7F09-4A9E-B966-D7068B9B0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63371-7D63-4DC7-AB8F-53B6B1960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0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4F70-7A44-46AD-8E97-9E4CE95C86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(f)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E5E8C-4778-4B79-9768-5BE89C8586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85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8187-FCC5-44B0-A6AC-9942A913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40FEA-1C6E-4AF5-8F90-0E9487B3B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At times, a non-</a:t>
            </a:r>
            <a:r>
              <a:rPr lang="en-US" dirty="0" err="1"/>
              <a:t>dimensionalized</a:t>
            </a:r>
            <a:r>
              <a:rPr lang="en-US" dirty="0"/>
              <a:t> version of the prior code will be utilized instead of code developed in (e).</a:t>
            </a:r>
          </a:p>
          <a:p>
            <a:pPr marL="0" indent="0">
              <a:buNone/>
            </a:pPr>
            <a:r>
              <a:rPr lang="en-US" dirty="0"/>
              <a:t>The main questions we are considering are:</a:t>
            </a:r>
          </a:p>
          <a:p>
            <a:pPr lvl="1"/>
            <a:r>
              <a:rPr lang="en-US" dirty="0"/>
              <a:t>How can we change C</a:t>
            </a:r>
            <a:r>
              <a:rPr lang="en-US" baseline="-25000" dirty="0"/>
              <a:t>OPA</a:t>
            </a:r>
            <a:r>
              <a:rPr lang="en-US" dirty="0"/>
              <a:t>, and C</a:t>
            </a:r>
            <a:r>
              <a:rPr lang="en-US" baseline="-25000" dirty="0"/>
              <a:t>SHG</a:t>
            </a:r>
            <a:r>
              <a:rPr lang="en-US" dirty="0"/>
              <a:t> to modify relevant dynamics? How precisely can we do so (check FFT)?</a:t>
            </a:r>
          </a:p>
          <a:p>
            <a:pPr lvl="1"/>
            <a:r>
              <a:rPr lang="en-US" dirty="0"/>
              <a:t>How does this technique work for relevant parameters?</a:t>
            </a:r>
          </a:p>
          <a:p>
            <a:pPr lvl="1"/>
            <a:r>
              <a:rPr lang="en-US" dirty="0"/>
              <a:t>How does the domain size of the signum function affect the effectiveness of QPM? How can we ensure our system is experimentally permissible?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6030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DDF98-B2E4-4F48-8D72-9EAADA59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Utilizing </a:t>
            </a:r>
            <a:r>
              <a:rPr lang="en-US" i="1" dirty="0">
                <a:solidFill>
                  <a:srgbClr val="FFFFFF"/>
                </a:solidFill>
              </a:rPr>
              <a:t>Norton and </a:t>
            </a:r>
            <a:r>
              <a:rPr lang="en-US" i="1">
                <a:solidFill>
                  <a:srgbClr val="FFFFFF"/>
                </a:solidFill>
              </a:rPr>
              <a:t>Sterke’s</a:t>
            </a:r>
            <a:r>
              <a:rPr lang="en-US" i="1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FFFFF"/>
                </a:solidFill>
              </a:rPr>
              <a:t>QPM method to favor OPA or SHG: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F7CA6-CA44-42C5-9E44-3ED0692E5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818" y="640082"/>
            <a:ext cx="6848715" cy="248488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Results from </a:t>
            </a:r>
            <a:r>
              <a:rPr lang="en-US" sz="2000" i="1" dirty="0"/>
              <a:t>Flemens, Moses</a:t>
            </a:r>
            <a:r>
              <a:rPr lang="en-US" sz="2000" dirty="0"/>
              <a:t> [1] can be reproduced without changing relevant parameters, but by changing coefficients/weights of QPM  (</a:t>
            </a:r>
            <a:r>
              <a:rPr lang="en-US" sz="2000" i="1" dirty="0"/>
              <a:t>Norton and </a:t>
            </a:r>
            <a:r>
              <a:rPr lang="en-US" sz="2000" i="1" dirty="0" err="1"/>
              <a:t>Sterke</a:t>
            </a:r>
            <a:r>
              <a:rPr lang="en-US" sz="2000" i="1" dirty="0"/>
              <a:t> [2]</a:t>
            </a:r>
            <a:r>
              <a:rPr lang="en-US" sz="2000" dirty="0"/>
              <a:t>).</a:t>
            </a:r>
          </a:p>
        </p:txBody>
      </p:sp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549A6D15-D979-4BCA-A7AC-0AE7E219E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031" y="2955086"/>
            <a:ext cx="3618272" cy="1643954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450D1948-A35C-49A0-AADA-1A0EE54A2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167" y="4983176"/>
            <a:ext cx="3618272" cy="1643954"/>
          </a:xfrm>
          <a:prstGeom prst="rect">
            <a:avLst/>
          </a:prstGeom>
        </p:spPr>
      </p:pic>
      <p:pic>
        <p:nvPicPr>
          <p:cNvPr id="23" name="Picture 22" descr="Chart, line chart&#10;&#10;Description automatically generated">
            <a:extLst>
              <a:ext uri="{FF2B5EF4-FFF2-40B4-BE49-F238E27FC236}">
                <a16:creationId xmlns:a16="http://schemas.microsoft.com/office/drawing/2014/main" id="{1D7ED91F-C565-41E0-9CA5-F0E70A454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4175" y="2955086"/>
            <a:ext cx="3618272" cy="164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6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C357-2610-44CD-824F-232957CB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Remarks: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86089-7E0E-4BB9-812B-E20013BEA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</a:t>
            </a:r>
            <a:r>
              <a:rPr lang="el-GR" dirty="0"/>
              <a:t>γ</a:t>
            </a:r>
            <a:r>
              <a:rPr lang="en-US" baseline="-25000" dirty="0"/>
              <a:t>inf</a:t>
            </a:r>
            <a:r>
              <a:rPr lang="en-US" dirty="0"/>
              <a:t> = ~1 (</a:t>
            </a:r>
            <a:r>
              <a:rPr lang="el-GR" dirty="0"/>
              <a:t>ω</a:t>
            </a:r>
            <a:r>
              <a:rPr lang="en-US" baseline="-25000" dirty="0"/>
              <a:t>p</a:t>
            </a:r>
            <a:r>
              <a:rPr lang="en-US" dirty="0"/>
              <a:t> = </a:t>
            </a:r>
            <a:r>
              <a:rPr lang="el-GR" dirty="0"/>
              <a:t>ω</a:t>
            </a:r>
            <a:r>
              <a:rPr lang="en-US" baseline="-25000" dirty="0"/>
              <a:t>2i</a:t>
            </a:r>
            <a:r>
              <a:rPr lang="en-US" dirty="0"/>
              <a:t>, </a:t>
            </a:r>
            <a:r>
              <a:rPr lang="el-GR" dirty="0"/>
              <a:t>ω</a:t>
            </a:r>
            <a:r>
              <a:rPr lang="en-US" baseline="-25000" dirty="0"/>
              <a:t>s</a:t>
            </a:r>
            <a:r>
              <a:rPr lang="en-US" dirty="0"/>
              <a:t> = </a:t>
            </a:r>
            <a:r>
              <a:rPr lang="el-GR" dirty="0"/>
              <a:t>ω</a:t>
            </a:r>
            <a:r>
              <a:rPr lang="en-US" baseline="-25000" dirty="0" err="1"/>
              <a:t>i</a:t>
            </a:r>
            <a:r>
              <a:rPr lang="en-US" dirty="0"/>
              <a:t>; n values are ~equal). See pdf below for derivation of </a:t>
            </a:r>
            <a:r>
              <a:rPr lang="el-GR" dirty="0"/>
              <a:t>γ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- The norm squared of the Fourier transform for each </a:t>
            </a:r>
            <a:r>
              <a:rPr lang="en-US" dirty="0" err="1"/>
              <a:t>d</a:t>
            </a:r>
            <a:r>
              <a:rPr lang="en-US" baseline="-25000" dirty="0" err="1"/>
              <a:t>eff</a:t>
            </a:r>
            <a:r>
              <a:rPr lang="en-US" dirty="0"/>
              <a:t> will be graphed for analysis, as well as the argument of the signum function for reference (both sine terms).</a:t>
            </a:r>
          </a:p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2128565-C171-47F5-996F-307D63DCAB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17759"/>
              </p:ext>
            </p:extLst>
          </p:nvPr>
        </p:nvGraphicFramePr>
        <p:xfrm>
          <a:off x="4250531" y="4606925"/>
          <a:ext cx="3690937" cy="1440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228320" imgH="478800" progId="Package">
                  <p:embed/>
                </p:oleObj>
              </mc:Choice>
              <mc:Fallback>
                <p:oleObj name="Packager Shell Object" showAsIcon="1" r:id="rId2" imgW="1228320" imgH="478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50531" y="4606925"/>
                        <a:ext cx="3690937" cy="1440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185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ABBB-0CB5-4D64-8760-C372FDE0D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Control:</a:t>
            </a:r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F2290BC4-BA6A-411E-952B-4D13BEDA3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011" y="1089227"/>
            <a:ext cx="4866971" cy="3507642"/>
          </a:xfr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EE9038E6-D264-4853-884A-D35F184D8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20" y="1918696"/>
            <a:ext cx="6069841" cy="2857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FCF2D9-ABDD-46A4-BD3E-8B457F5646D5}"/>
              </a:ext>
            </a:extLst>
          </p:cNvPr>
          <p:cNvSpPr txBox="1"/>
          <p:nvPr/>
        </p:nvSpPr>
        <p:spPr>
          <a:xfrm>
            <a:off x="835740" y="4917210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(Control intensity plot. C</a:t>
            </a:r>
            <a:r>
              <a:rPr lang="en-US" baseline="-25000" dirty="0"/>
              <a:t>OPA</a:t>
            </a:r>
            <a:r>
              <a:rPr lang="en-US" dirty="0"/>
              <a:t> = C</a:t>
            </a:r>
            <a:r>
              <a:rPr lang="en-US" baseline="-25000" dirty="0"/>
              <a:t>SHG</a:t>
            </a:r>
            <a:r>
              <a:rPr lang="en-US" dirty="0"/>
              <a:t> = 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83AFA-9023-4A04-BD2F-C49653BC7ACF}"/>
              </a:ext>
            </a:extLst>
          </p:cNvPr>
          <p:cNvSpPr txBox="1"/>
          <p:nvPr/>
        </p:nvSpPr>
        <p:spPr>
          <a:xfrm>
            <a:off x="6172200" y="4824877"/>
            <a:ext cx="5753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(We have </a:t>
            </a:r>
            <a:r>
              <a:rPr lang="el-GR" dirty="0"/>
              <a:t>Δ</a:t>
            </a:r>
            <a:r>
              <a:rPr lang="en-US" dirty="0" err="1"/>
              <a:t>k_OPA</a:t>
            </a:r>
            <a:r>
              <a:rPr lang="en-US" dirty="0"/>
              <a:t> = ~90000, </a:t>
            </a:r>
            <a:r>
              <a:rPr lang="el-GR" dirty="0"/>
              <a:t>Δ</a:t>
            </a:r>
            <a:r>
              <a:rPr lang="en-US" dirty="0" err="1"/>
              <a:t>k_SHG</a:t>
            </a:r>
            <a:r>
              <a:rPr lang="en-US" dirty="0"/>
              <a:t> = ~60000. Ratio of sign is 1.45. Ratio of sines is 1.15)</a:t>
            </a:r>
          </a:p>
        </p:txBody>
      </p:sp>
    </p:spTree>
    <p:extLst>
      <p:ext uri="{BB962C8B-B14F-4D97-AF65-F5344CB8AC3E}">
        <p14:creationId xmlns:p14="http://schemas.microsoft.com/office/powerpoint/2010/main" val="2828085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5E72B-B6AF-49CD-A235-E4401CB25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CSHG = 1.4474125441457693:</a:t>
            </a:r>
          </a:p>
        </p:txBody>
      </p:sp>
      <p:pic>
        <p:nvPicPr>
          <p:cNvPr id="5" name="Content Placeholder 4" descr="Graphical user interface, table, Excel&#10;&#10;Description automatically generated with medium confidence">
            <a:extLst>
              <a:ext uri="{FF2B5EF4-FFF2-40B4-BE49-F238E27FC236}">
                <a16:creationId xmlns:a16="http://schemas.microsoft.com/office/drawing/2014/main" id="{F7725C00-103E-4902-9AB6-0F577282A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802" y="1585535"/>
            <a:ext cx="4788314" cy="3450953"/>
          </a:xfr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2720A7FD-57B9-444F-A534-60A8D0E2D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21" y="1882441"/>
            <a:ext cx="6069841" cy="2857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045001-639A-4874-8774-DABF90EBAFEB}"/>
              </a:ext>
            </a:extLst>
          </p:cNvPr>
          <p:cNvSpPr txBox="1"/>
          <p:nvPr/>
        </p:nvSpPr>
        <p:spPr>
          <a:xfrm>
            <a:off x="923925" y="5143500"/>
            <a:ext cx="4905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(Increasing C</a:t>
            </a:r>
            <a:r>
              <a:rPr lang="en-US" baseline="-25000" dirty="0"/>
              <a:t>SHG</a:t>
            </a:r>
            <a:r>
              <a:rPr lang="en-US" dirty="0"/>
              <a:t> dampens the original graph. Closer to critical damping, so behavior is achieved over a shorter distance.)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D9805-0D06-4B3C-A37C-3D1F298443CE}"/>
              </a:ext>
            </a:extLst>
          </p:cNvPr>
          <p:cNvSpPr txBox="1"/>
          <p:nvPr/>
        </p:nvSpPr>
        <p:spPr>
          <a:xfrm>
            <a:off x="6664271" y="5143500"/>
            <a:ext cx="4905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(The C</a:t>
            </a:r>
            <a:r>
              <a:rPr lang="en-US" baseline="-25000" dirty="0"/>
              <a:t>SHG</a:t>
            </a:r>
            <a:r>
              <a:rPr lang="en-US" dirty="0"/>
              <a:t> value was chosen on an attempt to make the sign ratio of the control equal to 1. Actual sign ratio is 0.37515981162288653. Sine ratio is 0.7913334944723578)</a:t>
            </a:r>
          </a:p>
        </p:txBody>
      </p:sp>
    </p:spTree>
    <p:extLst>
      <p:ext uri="{BB962C8B-B14F-4D97-AF65-F5344CB8AC3E}">
        <p14:creationId xmlns:p14="http://schemas.microsoft.com/office/powerpoint/2010/main" val="332044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1862D-C4B5-4C74-8B63-5A0B8A67B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CSHG = 1.14594112177818</a:t>
            </a:r>
          </a:p>
        </p:txBody>
      </p:sp>
      <p:pic>
        <p:nvPicPr>
          <p:cNvPr id="5" name="Content Placeholder 4" descr="Chart, histogram&#10;&#10;Description automatically generated">
            <a:extLst>
              <a:ext uri="{FF2B5EF4-FFF2-40B4-BE49-F238E27FC236}">
                <a16:creationId xmlns:a16="http://schemas.microsoft.com/office/drawing/2014/main" id="{2CD67D11-630A-4CCB-B149-E9CAE0B51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1841" y="1385701"/>
            <a:ext cx="4818117" cy="3472432"/>
          </a:xfr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0334E98C-2F16-46B2-8F7D-82CD6CC87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67" y="1693346"/>
            <a:ext cx="6069841" cy="28571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8037E7-CCD7-44B8-A1FE-5E50633C3DB9}"/>
              </a:ext>
            </a:extLst>
          </p:cNvPr>
          <p:cNvSpPr txBox="1"/>
          <p:nvPr/>
        </p:nvSpPr>
        <p:spPr>
          <a:xfrm>
            <a:off x="7105650" y="5232378"/>
            <a:ext cx="4248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</a:t>
            </a:r>
            <a:r>
              <a:rPr lang="en-US" baseline="-25000" dirty="0"/>
              <a:t>SHG</a:t>
            </a:r>
            <a:r>
              <a:rPr lang="en-US" dirty="0"/>
              <a:t> was chosen to make the </a:t>
            </a:r>
            <a:r>
              <a:rPr lang="en-US" b="1" dirty="0"/>
              <a:t>sine </a:t>
            </a:r>
            <a:r>
              <a:rPr lang="en-US" dirty="0"/>
              <a:t>ratio 1. Seems to have been effective. Both the sign and sine ratios are close to 1)</a:t>
            </a:r>
          </a:p>
        </p:txBody>
      </p:sp>
    </p:spTree>
    <p:extLst>
      <p:ext uri="{BB962C8B-B14F-4D97-AF65-F5344CB8AC3E}">
        <p14:creationId xmlns:p14="http://schemas.microsoft.com/office/powerpoint/2010/main" val="3202372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25270-562F-4752-8071-9D118CD7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C_OPA = 10 (Heavily underdamped)</a:t>
            </a:r>
          </a:p>
        </p:txBody>
      </p:sp>
      <p:pic>
        <p:nvPicPr>
          <p:cNvPr id="5" name="Content Placeholder 4" descr="Table&#10;&#10;Description automatically generated with medium confidence">
            <a:extLst>
              <a:ext uri="{FF2B5EF4-FFF2-40B4-BE49-F238E27FC236}">
                <a16:creationId xmlns:a16="http://schemas.microsoft.com/office/drawing/2014/main" id="{873ED93C-93D3-4B1B-8159-2A9EF54BB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95" y="1690688"/>
            <a:ext cx="4709394" cy="3394075"/>
          </a:xfr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C8E98684-F17E-41A5-9464-E99FA90A6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11" y="2319692"/>
            <a:ext cx="6069841" cy="2857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83457B-8E93-4659-A6A2-5F62566F3E4F}"/>
              </a:ext>
            </a:extLst>
          </p:cNvPr>
          <p:cNvSpPr txBox="1"/>
          <p:nvPr/>
        </p:nvSpPr>
        <p:spPr>
          <a:xfrm>
            <a:off x="2042394" y="5251111"/>
            <a:ext cx="422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(Clearly underdamped plot)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162312-FB3E-4315-B506-1F6DED6BCDB7}"/>
              </a:ext>
            </a:extLst>
          </p:cNvPr>
          <p:cNvSpPr txBox="1"/>
          <p:nvPr/>
        </p:nvSpPr>
        <p:spPr>
          <a:xfrm>
            <a:off x="7055742" y="5435777"/>
            <a:ext cx="422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(Sign ratio is 22.874837533806783, and sine ratio is 11.4810587422258)</a:t>
            </a:r>
          </a:p>
        </p:txBody>
      </p:sp>
    </p:spTree>
    <p:extLst>
      <p:ext uri="{BB962C8B-B14F-4D97-AF65-F5344CB8AC3E}">
        <p14:creationId xmlns:p14="http://schemas.microsoft.com/office/powerpoint/2010/main" val="2277327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12DE-BA90-4FB6-985B-F74FBFDC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C_SHG = 10 (Heavily overdamped)</a:t>
            </a:r>
          </a:p>
        </p:txBody>
      </p:sp>
      <p:pic>
        <p:nvPicPr>
          <p:cNvPr id="5" name="Content Placeholder 4" descr="Graphical user interface, application, table, Excel&#10;&#10;Description automatically generated with medium confidence">
            <a:extLst>
              <a:ext uri="{FF2B5EF4-FFF2-40B4-BE49-F238E27FC236}">
                <a16:creationId xmlns:a16="http://schemas.microsoft.com/office/drawing/2014/main" id="{C236A796-68F7-4799-B03B-C5294CD66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66" y="2119593"/>
            <a:ext cx="6069841" cy="2857143"/>
          </a:xfrm>
        </p:spPr>
      </p:pic>
      <p:pic>
        <p:nvPicPr>
          <p:cNvPr id="7" name="Picture 6" descr="Graphical user interface, table, Excel&#10;&#10;Description automatically generated">
            <a:extLst>
              <a:ext uri="{FF2B5EF4-FFF2-40B4-BE49-F238E27FC236}">
                <a16:creationId xmlns:a16="http://schemas.microsoft.com/office/drawing/2014/main" id="{D482039F-C854-48CE-9A35-25B4521FC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586" y="1690688"/>
            <a:ext cx="4910548" cy="34712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D2D069-D0DD-4CEB-B71A-D095397CFC94}"/>
              </a:ext>
            </a:extLst>
          </p:cNvPr>
          <p:cNvSpPr txBox="1"/>
          <p:nvPr/>
        </p:nvSpPr>
        <p:spPr>
          <a:xfrm>
            <a:off x="7343472" y="5439459"/>
            <a:ext cx="3914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(Sign ratio is 0.05530731993373932, sine ratio is 0.1135535460869847)</a:t>
            </a:r>
          </a:p>
        </p:txBody>
      </p:sp>
    </p:spTree>
    <p:extLst>
      <p:ext uri="{BB962C8B-B14F-4D97-AF65-F5344CB8AC3E}">
        <p14:creationId xmlns:p14="http://schemas.microsoft.com/office/powerpoint/2010/main" val="238086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F07AF0-D149-4E62-8463-59E081B1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3ECF03-4E50-4CB2-841A-88182B38C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should adjust the weighing of coefficients based on results of the sine function, instead of the signum function.</a:t>
            </a:r>
          </a:p>
          <a:p>
            <a:r>
              <a:rPr lang="en-US" dirty="0"/>
              <a:t>It appears as if the sine and signum functions </a:t>
            </a:r>
            <a:r>
              <a:rPr lang="en-US" b="1" dirty="0"/>
              <a:t>don’t </a:t>
            </a:r>
            <a:r>
              <a:rPr lang="en-US" dirty="0"/>
              <a:t>differ more as one increases the weight of one coefficient. This can be seen by the second example shown: where the percent difference between the ratios of the sign and sine functions is larger than that of the fringe cases (C = 10).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540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B0C7-9FDF-44C1-9710-45B92E87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sine vs. cosine: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A1AA6-FEF1-4D81-94D5-B9A96396C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difference between sin and cos (pi/2). </a:t>
            </a:r>
          </a:p>
          <a:p>
            <a:r>
              <a:rPr lang="en-US" dirty="0"/>
              <a:t>Cosine slightly shifts all domains for the sign function (next slide). Effects are noticeable at </a:t>
            </a:r>
            <a:r>
              <a:rPr lang="el-GR" dirty="0"/>
              <a:t>Δ</a:t>
            </a:r>
            <a:r>
              <a:rPr lang="en-US" dirty="0"/>
              <a:t>k close to pi/2.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629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5E823-6AFC-48EF-A7D9-6088376E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Chart, histogram&#10;&#10;Description automatically generated">
            <a:extLst>
              <a:ext uri="{FF2B5EF4-FFF2-40B4-BE49-F238E27FC236}">
                <a16:creationId xmlns:a16="http://schemas.microsoft.com/office/drawing/2014/main" id="{99BC82F7-8DA4-4549-88AA-F807956AB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02" y="1559853"/>
            <a:ext cx="3582146" cy="2608576"/>
          </a:xfr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AB37C5CF-4F24-4F57-9A80-14C8C0BA4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784" y="1559853"/>
            <a:ext cx="3747123" cy="2604437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40150F1F-284E-419E-AB89-02D149191C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943" y="1563992"/>
            <a:ext cx="3747124" cy="26044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B28743-53E0-441C-A055-7052275F7635}"/>
              </a:ext>
            </a:extLst>
          </p:cNvPr>
          <p:cNvSpPr txBox="1"/>
          <p:nvPr/>
        </p:nvSpPr>
        <p:spPr>
          <a:xfrm>
            <a:off x="383238" y="4581525"/>
            <a:ext cx="330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(Control)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0D7E78-C597-4F05-98CD-FCFE73251611}"/>
              </a:ext>
            </a:extLst>
          </p:cNvPr>
          <p:cNvSpPr txBox="1"/>
          <p:nvPr/>
        </p:nvSpPr>
        <p:spPr>
          <a:xfrm>
            <a:off x="4624387" y="4440108"/>
            <a:ext cx="2943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(Cos QPM matching contributes </a:t>
            </a:r>
            <a:r>
              <a:rPr lang="en-US" b="1" dirty="0"/>
              <a:t>destructively</a:t>
            </a:r>
            <a:r>
              <a:rPr lang="en-US" dirty="0"/>
              <a:t>)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6C3CC-8CE2-48D5-ACF0-7C50F5EF891A}"/>
              </a:ext>
            </a:extLst>
          </p:cNvPr>
          <p:cNvSpPr txBox="1"/>
          <p:nvPr/>
        </p:nvSpPr>
        <p:spPr>
          <a:xfrm>
            <a:off x="8224543" y="4350692"/>
            <a:ext cx="3653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(Sine QPM matching contributes </a:t>
            </a:r>
            <a:r>
              <a:rPr lang="en-US" b="1" dirty="0"/>
              <a:t>constructively</a:t>
            </a:r>
            <a:r>
              <a:rPr lang="en-US" dirty="0"/>
              <a:t> by changing from positive to negative when the function is decreasing)</a:t>
            </a:r>
          </a:p>
        </p:txBody>
      </p:sp>
    </p:spTree>
    <p:extLst>
      <p:ext uri="{BB962C8B-B14F-4D97-AF65-F5344CB8AC3E}">
        <p14:creationId xmlns:p14="http://schemas.microsoft.com/office/powerpoint/2010/main" val="2730964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2FCB7-8DD3-41D8-85DC-23E2A174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Damping ratio: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7CFC3-1DE1-4CB1-A7DC-4070E05B0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the damping depend on relevant parameters?</a:t>
            </a:r>
          </a:p>
          <a:p>
            <a:pPr marL="457200" lvl="1" indent="0">
              <a:buNone/>
            </a:pPr>
            <a:r>
              <a:rPr lang="en-US" dirty="0"/>
              <a:t>-Frequencies</a:t>
            </a:r>
          </a:p>
          <a:p>
            <a:pPr marL="457200" lvl="1" indent="0">
              <a:buNone/>
            </a:pPr>
            <a:r>
              <a:rPr lang="en-US" dirty="0"/>
              <a:t>-Indexes of refraction</a:t>
            </a:r>
          </a:p>
          <a:p>
            <a:pPr marL="457200" lvl="1" indent="0">
              <a:buNone/>
            </a:pPr>
            <a:r>
              <a:rPr lang="en-US" dirty="0"/>
              <a:t>-Relative </a:t>
            </a:r>
            <a:r>
              <a:rPr lang="en-US" dirty="0" err="1"/>
              <a:t>d</a:t>
            </a:r>
            <a:r>
              <a:rPr lang="en-US" baseline="-25000" dirty="0" err="1"/>
              <a:t>effs</a:t>
            </a:r>
            <a:endParaRPr lang="en-US" baseline="-25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Damping ratio can be solved for analytically: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7906947-1341-4F43-99EF-23FADC270D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740937"/>
              </p:ext>
            </p:extLst>
          </p:nvPr>
        </p:nvGraphicFramePr>
        <p:xfrm>
          <a:off x="7784306" y="3673475"/>
          <a:ext cx="3690937" cy="1440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228320" imgH="478800" progId="Package">
                  <p:embed/>
                </p:oleObj>
              </mc:Choice>
              <mc:Fallback>
                <p:oleObj name="Packager Shell Object" showAsIcon="1" r:id="rId2" imgW="1228320" imgH="47880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2128565-C171-47F5-996F-307D63DCAB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84306" y="3673475"/>
                        <a:ext cx="3690937" cy="1440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6940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17CD1-BEFD-40A6-A453-54E44E307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46623C28-D327-4A55-A386-83D6FC497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87" y="432594"/>
            <a:ext cx="5345501" cy="2516188"/>
          </a:xfr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AFAEC6A9-07DD-46DA-AE7A-65E9F33CC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499" y="3178765"/>
            <a:ext cx="5345501" cy="2516188"/>
          </a:xfrm>
          <a:prstGeom prst="rect">
            <a:avLst/>
          </a:prstGeo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71CEF12A-6D3F-4E96-8852-661EB353A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87" y="3178765"/>
            <a:ext cx="5345501" cy="25161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D689E8-83E0-420A-88B1-21565B415D18}"/>
              </a:ext>
            </a:extLst>
          </p:cNvPr>
          <p:cNvSpPr txBox="1"/>
          <p:nvPr/>
        </p:nvSpPr>
        <p:spPr>
          <a:xfrm>
            <a:off x="962025" y="5791200"/>
            <a:ext cx="4514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(Increasing </a:t>
            </a:r>
            <a:r>
              <a:rPr lang="el-GR" dirty="0"/>
              <a:t>ω</a:t>
            </a:r>
            <a:r>
              <a:rPr lang="en-US" baseline="-25000" dirty="0"/>
              <a:t>s</a:t>
            </a:r>
            <a:r>
              <a:rPr lang="en-US" dirty="0"/>
              <a:t> and decreasing </a:t>
            </a:r>
            <a:r>
              <a:rPr lang="el-GR" dirty="0"/>
              <a:t>ω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leads to underdamping)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4CB68B-D458-4896-BB09-DEC2620AFA53}"/>
              </a:ext>
            </a:extLst>
          </p:cNvPr>
          <p:cNvSpPr txBox="1"/>
          <p:nvPr/>
        </p:nvSpPr>
        <p:spPr>
          <a:xfrm>
            <a:off x="6379514" y="1506022"/>
            <a:ext cx="451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(Control)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77828E-184A-421D-A3DE-FFF852A3C27D}"/>
              </a:ext>
            </a:extLst>
          </p:cNvPr>
          <p:cNvSpPr txBox="1"/>
          <p:nvPr/>
        </p:nvSpPr>
        <p:spPr>
          <a:xfrm>
            <a:off x="6296025" y="5791200"/>
            <a:ext cx="5133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(Although graph is sketchy, it seems to indicate that increasing </a:t>
            </a:r>
            <a:r>
              <a:rPr lang="el-GR" dirty="0"/>
              <a:t>ω</a:t>
            </a:r>
            <a:r>
              <a:rPr lang="en-US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and decreasing </a:t>
            </a:r>
            <a:r>
              <a:rPr lang="el-GR" dirty="0"/>
              <a:t>ω</a:t>
            </a:r>
            <a:r>
              <a:rPr lang="en-US" baseline="-25000" dirty="0"/>
              <a:t>s</a:t>
            </a:r>
            <a:r>
              <a:rPr lang="en-US" dirty="0"/>
              <a:t> leads to overdamping)</a:t>
            </a:r>
          </a:p>
        </p:txBody>
      </p:sp>
    </p:spTree>
    <p:extLst>
      <p:ext uri="{BB962C8B-B14F-4D97-AF65-F5344CB8AC3E}">
        <p14:creationId xmlns:p14="http://schemas.microsoft.com/office/powerpoint/2010/main" val="1367914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AD22-D63D-4D5D-B39F-25889E1E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</a:t>
            </a:r>
            <a:r>
              <a:rPr lang="en-US" dirty="0"/>
              <a:t>k considerations: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1250F-DAC7-43B1-B9EB-6BA6132F6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the magnitude |</a:t>
            </a:r>
            <a:r>
              <a:rPr lang="el-GR" dirty="0"/>
              <a:t>Δ</a:t>
            </a:r>
            <a:r>
              <a:rPr lang="en-US" dirty="0" err="1"/>
              <a:t>k_OPA</a:t>
            </a:r>
            <a:r>
              <a:rPr lang="en-US" dirty="0"/>
              <a:t>|, and |</a:t>
            </a:r>
            <a:r>
              <a:rPr lang="el-GR" dirty="0"/>
              <a:t>Δ</a:t>
            </a:r>
            <a:r>
              <a:rPr lang="en-US" dirty="0" err="1"/>
              <a:t>k_SHG</a:t>
            </a:r>
            <a:r>
              <a:rPr lang="en-US" dirty="0"/>
              <a:t>| change control of dynamics?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sz="2000" dirty="0"/>
              <a:t>Indexes of refraction will all be multiplied by 4 to increase magnitudes of 	</a:t>
            </a:r>
            <a:r>
              <a:rPr lang="el-GR" sz="2000" dirty="0"/>
              <a:t> </a:t>
            </a:r>
            <a:r>
              <a:rPr lang="en-US" sz="2000" dirty="0"/>
              <a:t>	</a:t>
            </a:r>
            <a:r>
              <a:rPr lang="el-GR" sz="2000" dirty="0"/>
              <a:t>Δ</a:t>
            </a:r>
            <a:r>
              <a:rPr lang="en-US" sz="2000" dirty="0"/>
              <a:t>k and keep damping ratio, and ratio of </a:t>
            </a:r>
            <a:r>
              <a:rPr lang="el-GR" sz="2000" dirty="0"/>
              <a:t>Δ</a:t>
            </a:r>
            <a:r>
              <a:rPr lang="en-US" sz="2000" dirty="0"/>
              <a:t>k’s equal.</a:t>
            </a:r>
            <a:endParaRPr lang="en-US" dirty="0"/>
          </a:p>
          <a:p>
            <a:r>
              <a:rPr lang="en-US" dirty="0"/>
              <a:t>How does the ratio |</a:t>
            </a:r>
            <a:r>
              <a:rPr lang="el-GR" dirty="0"/>
              <a:t>Δ</a:t>
            </a:r>
            <a:r>
              <a:rPr lang="en-US" dirty="0" err="1"/>
              <a:t>k_OPA</a:t>
            </a:r>
            <a:r>
              <a:rPr lang="en-US" dirty="0"/>
              <a:t>|/ |</a:t>
            </a:r>
            <a:r>
              <a:rPr lang="el-GR" dirty="0"/>
              <a:t>Δ</a:t>
            </a:r>
            <a:r>
              <a:rPr lang="en-US" dirty="0" err="1"/>
              <a:t>k_SHG</a:t>
            </a:r>
            <a:r>
              <a:rPr lang="en-US" dirty="0"/>
              <a:t>| change dynamics?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US" sz="2000" dirty="0"/>
              <a:t>Frequencies changed to change ratio, while maintaining same damping.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27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C5D4-6D1E-4227-84D5-0A86309F6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Control:</a:t>
            </a:r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CC68330A-3205-408D-B182-3C2E66070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1690688"/>
            <a:ext cx="6069841" cy="2857143"/>
          </a:xfr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2F245900-0FE2-45E5-BB4F-1E1EC2C83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143" y="1501405"/>
            <a:ext cx="4489657" cy="323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56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A7C9C-C8D4-4E99-8EB6-8007030D0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Magnitude:</a:t>
            </a:r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E043940D-6CD4-4FAE-B0AF-F31818439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91" y="2000428"/>
            <a:ext cx="6069841" cy="2857143"/>
          </a:xfr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6EABDC98-E579-4142-9C05-AF421345AB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639" y="1458452"/>
            <a:ext cx="4874370" cy="37316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CDC7FA-47E2-4156-8E58-39B0B7A6AD0C}"/>
              </a:ext>
            </a:extLst>
          </p:cNvPr>
          <p:cNvSpPr txBox="1"/>
          <p:nvPr/>
        </p:nvSpPr>
        <p:spPr>
          <a:xfrm>
            <a:off x="1171575" y="5057775"/>
            <a:ext cx="4476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(Propagation needed for effects clearly increases)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2173C-2446-4BBA-8129-6A62AB2AA86D}"/>
              </a:ext>
            </a:extLst>
          </p:cNvPr>
          <p:cNvSpPr txBox="1"/>
          <p:nvPr/>
        </p:nvSpPr>
        <p:spPr>
          <a:xfrm>
            <a:off x="6908056" y="5352365"/>
            <a:ext cx="48743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(For some reason, this is the only FT to favor SHG for the sine function, but to favor OPA for the signum function)</a:t>
            </a:r>
          </a:p>
        </p:txBody>
      </p:sp>
    </p:spTree>
    <p:extLst>
      <p:ext uri="{BB962C8B-B14F-4D97-AF65-F5344CB8AC3E}">
        <p14:creationId xmlns:p14="http://schemas.microsoft.com/office/powerpoint/2010/main" val="619434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02670-8BDC-434B-90E2-A139CB24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Decrease magnitude</a:t>
            </a:r>
          </a:p>
        </p:txBody>
      </p:sp>
      <p:pic>
        <p:nvPicPr>
          <p:cNvPr id="5" name="Content Placeholder 4" descr="Chart, histogram&#10;&#10;Description automatically generated">
            <a:extLst>
              <a:ext uri="{FF2B5EF4-FFF2-40B4-BE49-F238E27FC236}">
                <a16:creationId xmlns:a16="http://schemas.microsoft.com/office/drawing/2014/main" id="{BF5A2C98-F938-4B4E-AA08-EF1E54C4E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358" y="2216738"/>
            <a:ext cx="6069841" cy="2857143"/>
          </a:xfrm>
        </p:spPr>
      </p:pic>
      <p:pic>
        <p:nvPicPr>
          <p:cNvPr id="9" name="Picture 8" descr="Chart&#10;&#10;Description automatically generated">
            <a:extLst>
              <a:ext uri="{FF2B5EF4-FFF2-40B4-BE49-F238E27FC236}">
                <a16:creationId xmlns:a16="http://schemas.microsoft.com/office/drawing/2014/main" id="{0D035C8F-2A1B-4225-9CF2-E84E52335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028" y="1690688"/>
            <a:ext cx="4902614" cy="35333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104358-54FE-458F-A787-32ECACED6594}"/>
              </a:ext>
            </a:extLst>
          </p:cNvPr>
          <p:cNvSpPr txBox="1"/>
          <p:nvPr/>
        </p:nvSpPr>
        <p:spPr>
          <a:xfrm>
            <a:off x="981075" y="5224017"/>
            <a:ext cx="4902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(The graph isn’t too smooth, but it seems like the propagation distance for a cycle is lower)</a:t>
            </a:r>
          </a:p>
        </p:txBody>
      </p:sp>
    </p:spTree>
    <p:extLst>
      <p:ext uri="{BB962C8B-B14F-4D97-AF65-F5344CB8AC3E}">
        <p14:creationId xmlns:p14="http://schemas.microsoft.com/office/powerpoint/2010/main" val="1304290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A782-3E75-4AF6-8DF7-9D5288AA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Increase ratio (4 times increase in ratio):</a:t>
            </a:r>
          </a:p>
        </p:txBody>
      </p:sp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953260BC-A1BE-4EB3-96DB-734D53DA9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3" y="2000428"/>
            <a:ext cx="6069841" cy="2857143"/>
          </a:xfrm>
        </p:spPr>
      </p:pic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F63384A2-2585-4E71-8171-CCCE98AF0E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869" y="1668257"/>
            <a:ext cx="4385931" cy="35214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CC0CD7-5F64-4BE3-8610-932C7C37860E}"/>
              </a:ext>
            </a:extLst>
          </p:cNvPr>
          <p:cNvSpPr txBox="1"/>
          <p:nvPr/>
        </p:nvSpPr>
        <p:spPr>
          <a:xfrm>
            <a:off x="1152370" y="5005075"/>
            <a:ext cx="4829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(More asymmetry in the plots? Seems to require </a:t>
            </a:r>
            <a:r>
              <a:rPr lang="en-US" b="1" dirty="0"/>
              <a:t>less</a:t>
            </a:r>
            <a:r>
              <a:rPr lang="en-US" dirty="0"/>
              <a:t> distance than control if only slightly)</a:t>
            </a:r>
          </a:p>
        </p:txBody>
      </p:sp>
    </p:spTree>
    <p:extLst>
      <p:ext uri="{BB962C8B-B14F-4D97-AF65-F5344CB8AC3E}">
        <p14:creationId xmlns:p14="http://schemas.microsoft.com/office/powerpoint/2010/main" val="283399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E4AAF-3E9B-42AF-A080-1D8D27F4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Severely increase ratio (ratio is about 50 times the control’s):</a:t>
            </a:r>
          </a:p>
        </p:txBody>
      </p:sp>
      <p:pic>
        <p:nvPicPr>
          <p:cNvPr id="5" name="Content Placeholder 4" descr="Chart, histogram&#10;&#10;Description automatically generated">
            <a:extLst>
              <a:ext uri="{FF2B5EF4-FFF2-40B4-BE49-F238E27FC236}">
                <a16:creationId xmlns:a16="http://schemas.microsoft.com/office/drawing/2014/main" id="{4CCEEAE7-08E0-4022-8615-89B83934B3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878" y="1667562"/>
            <a:ext cx="4804019" cy="3857169"/>
          </a:xfr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8812A5F5-9DB9-4783-8DE0-421469BB6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58" y="1929449"/>
            <a:ext cx="6069841" cy="2857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EFA529-3E89-45B5-A425-CF66A47D7442}"/>
              </a:ext>
            </a:extLst>
          </p:cNvPr>
          <p:cNvSpPr txBox="1"/>
          <p:nvPr/>
        </p:nvSpPr>
        <p:spPr>
          <a:xfrm>
            <a:off x="1089668" y="4934181"/>
            <a:ext cx="4804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(High degree of asymmetry; more propagation required?)</a:t>
            </a:r>
          </a:p>
        </p:txBody>
      </p:sp>
    </p:spTree>
    <p:extLst>
      <p:ext uri="{BB962C8B-B14F-4D97-AF65-F5344CB8AC3E}">
        <p14:creationId xmlns:p14="http://schemas.microsoft.com/office/powerpoint/2010/main" val="2117933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8CDA-E52E-4948-BEFB-8368A13D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 = 1</a:t>
            </a:r>
          </a:p>
        </p:txBody>
      </p:sp>
      <p:pic>
        <p:nvPicPr>
          <p:cNvPr id="5" name="Content Placeholder 4" descr="Table, Excel&#10;&#10;Description automatically generated">
            <a:extLst>
              <a:ext uri="{FF2B5EF4-FFF2-40B4-BE49-F238E27FC236}">
                <a16:creationId xmlns:a16="http://schemas.microsoft.com/office/drawing/2014/main" id="{125DBA4A-94D3-4068-B621-455E2DE94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407" y="1868572"/>
            <a:ext cx="4169393" cy="3455150"/>
          </a:xfr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2149101E-83EC-4F0D-9FA7-DC9EFF257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76" y="2275731"/>
            <a:ext cx="6069841" cy="2857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83FE9A-7A05-457D-8B43-54D8AE5EBD35}"/>
              </a:ext>
            </a:extLst>
          </p:cNvPr>
          <p:cNvSpPr txBox="1"/>
          <p:nvPr/>
        </p:nvSpPr>
        <p:spPr>
          <a:xfrm>
            <a:off x="1127296" y="5323722"/>
            <a:ext cx="510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(Clearly the most efficient option; perhaps because net magnitude of phase differences is lower?)</a:t>
            </a:r>
          </a:p>
        </p:txBody>
      </p:sp>
    </p:spTree>
    <p:extLst>
      <p:ext uri="{BB962C8B-B14F-4D97-AF65-F5344CB8AC3E}">
        <p14:creationId xmlns:p14="http://schemas.microsoft.com/office/powerpoint/2010/main" val="150294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D9E5F-2FB9-4803-84A5-65807943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2C265-6F00-4998-B679-0046F8D09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increasing the magnitude of </a:t>
            </a:r>
            <a:r>
              <a:rPr lang="el-GR" dirty="0"/>
              <a:t>Δ</a:t>
            </a:r>
            <a:r>
              <a:rPr lang="en-US" dirty="0"/>
              <a:t>k’s increases propagation distance needed for full conversion.</a:t>
            </a:r>
          </a:p>
          <a:p>
            <a:r>
              <a:rPr lang="en-US" dirty="0"/>
              <a:t>Having both </a:t>
            </a:r>
            <a:r>
              <a:rPr lang="el-GR" dirty="0"/>
              <a:t>Δ</a:t>
            </a:r>
            <a:r>
              <a:rPr lang="en-US" dirty="0"/>
              <a:t>k’s at a 1:1 ratio is most efficient.</a:t>
            </a:r>
          </a:p>
          <a:p>
            <a:r>
              <a:rPr lang="en-US" dirty="0"/>
              <a:t>While there is a couple of outlier cases, in general, changing the ratio of </a:t>
            </a:r>
            <a:r>
              <a:rPr lang="el-GR" dirty="0"/>
              <a:t>Δ</a:t>
            </a:r>
            <a:r>
              <a:rPr lang="en-US" dirty="0"/>
              <a:t>k’s seems a bit uneventful, and the dynamics generally follow similarly.</a:t>
            </a:r>
          </a:p>
        </p:txBody>
      </p:sp>
    </p:spTree>
    <p:extLst>
      <p:ext uri="{BB962C8B-B14F-4D97-AF65-F5344CB8AC3E}">
        <p14:creationId xmlns:p14="http://schemas.microsoft.com/office/powerpoint/2010/main" val="759829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233374-FEDA-4299-869A-35D553981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1266876"/>
          </a:xfrm>
        </p:spPr>
        <p:txBody>
          <a:bodyPr/>
          <a:lstStyle/>
          <a:p>
            <a:r>
              <a:rPr lang="en-US" dirty="0"/>
              <a:t>Domain Considerations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F4A11D2-16E0-4852-B17D-58ADB1D1B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581" y="2351139"/>
            <a:ext cx="10618838" cy="4699819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Increasing magnitude of </a:t>
            </a:r>
            <a:r>
              <a:rPr lang="el-GR" dirty="0"/>
              <a:t>Δ</a:t>
            </a:r>
            <a:r>
              <a:rPr lang="en-US" dirty="0"/>
              <a:t>k (either </a:t>
            </a:r>
            <a:r>
              <a:rPr lang="el-GR" dirty="0"/>
              <a:t>Δ</a:t>
            </a:r>
            <a:r>
              <a:rPr lang="en-US" dirty="0"/>
              <a:t>k) generally increases net amount of jumps in signum function.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/>
              <a:t>Smallest manufacturable domain is 2.5 microns; rounding is often needed.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More jumps generally smooths curve out, and increases propagation distance required.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Increasing minimum domain size assures some rounding is needed, or that </a:t>
            </a:r>
            <a:r>
              <a:rPr lang="el-GR" dirty="0"/>
              <a:t>Δ</a:t>
            </a:r>
            <a:r>
              <a:rPr lang="en-US" dirty="0"/>
              <a:t>k’s are small in magnitude.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790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C7F86-4AFD-4209-A279-22670DF3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C36AE-147B-40A4-8D97-BC51A2B5C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[1]: N. Flemens and J. Moses, "Non-Hermitian Dynamics Mimicked by a Fully Parametric Hybrid Nonlinear Optical System," in OSA Advanced Photonics Congress (AP) 2020 (IPR, NP, NOMA, Networks, PVLED, PSC, </a:t>
            </a:r>
            <a:r>
              <a:rPr lang="en-US" dirty="0" err="1"/>
              <a:t>SPPCom</a:t>
            </a:r>
            <a:r>
              <a:rPr lang="en-US" dirty="0"/>
              <a:t>, SOF), L. </a:t>
            </a:r>
            <a:r>
              <a:rPr lang="en-US" dirty="0" err="1"/>
              <a:t>Caspani</a:t>
            </a:r>
            <a:r>
              <a:rPr lang="en-US" dirty="0"/>
              <a:t>, A. </a:t>
            </a:r>
            <a:r>
              <a:rPr lang="en-US" dirty="0" err="1"/>
              <a:t>Tauke-Pedretti</a:t>
            </a:r>
            <a:r>
              <a:rPr lang="en-US" dirty="0"/>
              <a:t>, F. Leo, and B. Yang, eds., OSA Technical Digest (Optical Society of America, 2020), paper NpM3E.2.</a:t>
            </a:r>
          </a:p>
          <a:p>
            <a:r>
              <a:rPr lang="en-US" dirty="0"/>
              <a:t>[2]: Andrew H. Norton and C. </a:t>
            </a:r>
            <a:r>
              <a:rPr lang="en-US" dirty="0" err="1"/>
              <a:t>Martijn</a:t>
            </a:r>
            <a:r>
              <a:rPr lang="en-US" dirty="0"/>
              <a:t> de </a:t>
            </a:r>
            <a:r>
              <a:rPr lang="en-US" dirty="0" err="1"/>
              <a:t>Sterke</a:t>
            </a:r>
            <a:r>
              <a:rPr lang="en-US" dirty="0"/>
              <a:t>, "Aperiodic 1-dimensional structures for quasi-phase matching," Opt. Express 12, 841-846 (2004)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83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4729</TotalTime>
  <Words>1064</Words>
  <Application>Microsoft Office PowerPoint</Application>
  <PresentationFormat>Widescreen</PresentationFormat>
  <Paragraphs>75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</vt:lpstr>
      <vt:lpstr>Century Gothic</vt:lpstr>
      <vt:lpstr>Palatino Linotype</vt:lpstr>
      <vt:lpstr>Office Theme</vt:lpstr>
      <vt:lpstr>Packager Shell Object</vt:lpstr>
      <vt:lpstr>Part (f)</vt:lpstr>
      <vt:lpstr>Remarks</vt:lpstr>
      <vt:lpstr>Utilizing Norton and Sterke’s QPM method to favor OPA or SHG:</vt:lpstr>
      <vt:lpstr>Remarks:</vt:lpstr>
      <vt:lpstr>Control:</vt:lpstr>
      <vt:lpstr>CSHG = 1.4474125441457693:</vt:lpstr>
      <vt:lpstr>CSHG = 1.14594112177818</vt:lpstr>
      <vt:lpstr>C_OPA = 10 (Heavily underdamped)</vt:lpstr>
      <vt:lpstr>C_SHG = 10 (Heavily overdamped)</vt:lpstr>
      <vt:lpstr>Observations:</vt:lpstr>
      <vt:lpstr>Use of sine vs. cosine:</vt:lpstr>
      <vt:lpstr>PowerPoint Presentation</vt:lpstr>
      <vt:lpstr>Damping ratio:</vt:lpstr>
      <vt:lpstr>PowerPoint Presentation</vt:lpstr>
      <vt:lpstr>Δk considerations:</vt:lpstr>
      <vt:lpstr>Control:</vt:lpstr>
      <vt:lpstr>Higher Magnitude:</vt:lpstr>
      <vt:lpstr>Decrease magnitude</vt:lpstr>
      <vt:lpstr>Increase ratio (4 times increase in ratio):</vt:lpstr>
      <vt:lpstr>Severely increase ratio (ratio is about 50 times the control’s):</vt:lpstr>
      <vt:lpstr>Ratio = 1</vt:lpstr>
      <vt:lpstr>Observations:</vt:lpstr>
      <vt:lpstr>Domain Considerations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(f)</dc:title>
  <dc:creator>Mendes Castanheira, Nuno Vinicius</dc:creator>
  <cp:lastModifiedBy>Mendes Castanheira, Nuno Vinicius</cp:lastModifiedBy>
  <cp:revision>30</cp:revision>
  <dcterms:created xsi:type="dcterms:W3CDTF">2021-07-03T02:35:32Z</dcterms:created>
  <dcterms:modified xsi:type="dcterms:W3CDTF">2021-07-08T00:14:34Z</dcterms:modified>
</cp:coreProperties>
</file>